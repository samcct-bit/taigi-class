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344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B3C30"/>
                </a:solidFill>
                <a:latin typeface="Microsoft JhengHei"/>
              </a:rPr>
              <a:t>身體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574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B8860B"/>
                </a:solidFill>
                <a:latin typeface="Microsoft JhengHei"/>
              </a:rPr>
              <a:t>國小一年級｜45 分鐘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394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F7069"/>
                </a:solidFill>
                <a:latin typeface="Microsoft JhengHei"/>
              </a:rPr>
              <a:t>依據官方教材索引與 108 課綱輔助生成，教師審核後使用。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C30"/>
                </a:solidFill>
                <a:latin typeface="Microsoft JhengHei"/>
              </a:rPr>
              <a:t>學習目標與課綱連結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F7069"/>
                </a:solidFill>
                <a:latin typeface="Microsoft JhengHei"/>
              </a:rPr>
              <a:t>用於課堂導入與教師備課確認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能理解本單元核心詞彙。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能在情境中聽辨並使用臺語句型。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能完成課堂互動測驗。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C30"/>
                </a:solidFill>
                <a:latin typeface="Microsoft JhengHei"/>
              </a:rPr>
              <a:t>核心詞彙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F7069"/>
                </a:solidFill>
                <a:latin typeface="Microsoft JhengHei"/>
              </a:rPr>
              <a:t>漢字、臺羅與華語意義對照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F3E46"/>
                </a:solidFill>
                <a:latin typeface="Microsoft JhengHei"/>
              </a:defRPr>
            </a:pPr>
            <a:r>
              <a:t>頭｜Thâu｜pending</a:t>
            </a:r>
          </a:p>
          <a:p>
            <a:pPr>
              <a:defRPr sz="2100">
                <a:solidFill>
                  <a:srgbClr val="2F3E46"/>
                </a:solidFill>
                <a:latin typeface="Microsoft JhengHei"/>
              </a:defRPr>
            </a:pPr>
            <a:r>
              <a:t>手｜Tshiú｜pending</a:t>
            </a:r>
          </a:p>
          <a:p>
            <a:pPr>
              <a:defRPr sz="2100">
                <a:solidFill>
                  <a:srgbClr val="2F3E46"/>
                </a:solidFill>
                <a:latin typeface="Microsoft JhengHei"/>
              </a:defRPr>
            </a:pPr>
            <a:r>
              <a:t>腳｜kioh｜pending</a:t>
            </a:r>
          </a:p>
          <a:p>
            <a:pPr>
              <a:defRPr sz="2100">
                <a:solidFill>
                  <a:srgbClr val="2F3E46"/>
                </a:solidFill>
                <a:latin typeface="Microsoft JhengHei"/>
              </a:defRPr>
            </a:pPr>
            <a:r>
              <a:t>眼睛｜gán tsing｜pending</a:t>
            </a:r>
          </a:p>
          <a:p>
            <a:pPr>
              <a:defRPr sz="2100">
                <a:solidFill>
                  <a:srgbClr val="2F3E46"/>
                </a:solidFill>
                <a:latin typeface="Microsoft JhengHei"/>
              </a:defRPr>
            </a:pPr>
            <a:r>
              <a:t>鼻子｜phīnn tsí｜pending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C30"/>
                </a:solidFill>
                <a:latin typeface="Microsoft JhengHei"/>
              </a:rPr>
              <a:t>情境會話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F7069"/>
                </a:solidFill>
                <a:latin typeface="Microsoft JhengHei"/>
              </a:rPr>
              <a:t>可搭配聽說練習與角色扮演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阿偉：我有兩隻手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  Guá ū nn̄g tsiah tshiú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阿明：我有兩隻眼睛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  Guá ū nn̄g tsiah gán tsing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阿偉：咱有兩隻腳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  lán ū nn̄g tsiah kioh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阿明：咱的頭在哪裡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  lán ê thâu tsāi ná-lí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C30"/>
                </a:solidFill>
                <a:latin typeface="Microsoft JhengHei"/>
              </a:rPr>
              <a:t>課堂測驗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F7069"/>
                </a:solidFill>
                <a:latin typeface="Microsoft JhengHei"/>
              </a:rPr>
              <a:t>可轉作紙本考卷或互動網站題目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1. 頭的台語是什麼</a:t>
            </a:r>
          </a:p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   答案：thâu</a:t>
            </a:r>
          </a:p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2. 手的台語是什麼</a:t>
            </a:r>
          </a:p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   答案：chhiú</a:t>
            </a:r>
          </a:p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3. 眼睛的台語是什麼</a:t>
            </a:r>
          </a:p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   答案：ba̍k-chiu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C30"/>
                </a:solidFill>
                <a:latin typeface="Microsoft JhengHei"/>
              </a:rPr>
              <a:t>官方教材參考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F7069"/>
                </a:solidFill>
                <a:latin typeface="Microsoft JhengHei"/>
              </a:rPr>
              <a:t>後續產出教材時可追溯來源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wordwall (Game) 身體五官對對碰｜第一學習階段｜interactive｜wordwall</a:t>
            </a:r>
          </a:p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臺灣台語第02冊-1【查埔查某】｜第一學習階段｜text_reference</a:t>
            </a:r>
          </a:p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身軀(第28集)｜第一學習階段｜video</a:t>
            </a:r>
          </a:p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【台語文看板】畫銅人來教台語講身體外觀 醫師刊文引討論｜第二學習階段｜video｜公視台語台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